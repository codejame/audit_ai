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7490"/>
                </a:solidFill>
              </a:defRPr>
            </a:pPr>
            <a:r>
              <a:t>Intelligent Document Extraction &amp; Validation Platform</a:t>
            </a:r>
          </a:p>
          <a:p>
            <a:pPr>
              <a:defRPr sz="2000">
                <a:solidFill>
                  <a:srgbClr val="64748B"/>
                </a:solidFill>
              </a:defRPr>
            </a:pPr>
            <a:r>
              <a:t>AI Engineer Internship | Technical Case Study Submission</a:t>
            </a:r>
          </a:p>
          <a:p>
            <a:br/>
            <a:pPr>
              <a:defRPr sz="1500">
                <a:solidFill>
                  <a:srgbClr val="1E293B"/>
                </a:solidFill>
              </a:defRPr>
            </a:pPr>
            <a:r>
              <a:t>Candidate: Partha Protim Mondal</a:t>
            </a:r>
            <a:br/>
            <a:r>
              <a:t>Tech Stack: FastAPI, PyMuPDF, Vision LLMs (Gemini/OpenAI), SQLite, Bootstrap 5</a:t>
            </a:r>
            <a:br/>
            <a:r>
              <a:t>Live Deployed Architecture &amp; Comprehensive 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1. Problem Statement &amp; Core Objectives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Addressing manual bottlenecks in financial services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0E7490"/>
                </a:solidFill>
              </a:rPr>
              <a:t>The Challenge: </a:t>
            </a:r>
            <a:r>
              <a:rPr sz="1400">
                <a:solidFill>
                  <a:srgbClr val="1E293B"/>
                </a:solidFill>
              </a:rPr>
              <a:t>Financial teams receive diverse invoices and financial statements across native and scanned PDFs, JPGs, and PNGs with varying formats, image noise, and complex line-item structures.
</a:t>
            </a:r>
          </a:p>
          <a:p>
            <a:r>
              <a:rPr b="1" sz="1400">
                <a:solidFill>
                  <a:srgbClr val="0E7490"/>
                </a:solidFill>
              </a:rPr>
              <a:t>Multi-Document Scope: </a:t>
            </a:r>
            <a:r>
              <a:rPr sz="1400">
                <a:solidFill>
                  <a:srgbClr val="1E293B"/>
                </a:solidFill>
              </a:rPr>
              <a:t>Platform natively ingests 4 document categories: Invoices, Balance Sheets, Profit &amp; Loss Statements, and Cash Flow Statements without manual transcription.
</a:t>
            </a:r>
          </a:p>
          <a:p>
            <a:r>
              <a:rPr b="1" sz="1400">
                <a:solidFill>
                  <a:srgbClr val="0E7490"/>
                </a:solidFill>
              </a:rPr>
              <a:t>Strict Input Control: </a:t>
            </a:r>
            <a:r>
              <a:rPr sz="1400">
                <a:solidFill>
                  <a:srgbClr val="1E293B"/>
                </a:solidFill>
              </a:rPr>
              <a:t>Enforces strict input validation: rejects unsupported types (.txt, .docx), corrupted files, and documents exceeding 3 pages.
</a:t>
            </a:r>
          </a:p>
          <a:p>
            <a:r>
              <a:rPr b="1" sz="1400">
                <a:solidFill>
                  <a:srgbClr val="0E7490"/>
                </a:solidFill>
              </a:rPr>
              <a:t>Automated Reconciliation: </a:t>
            </a:r>
            <a:r>
              <a:rPr sz="1400">
                <a:solidFill>
                  <a:srgbClr val="1E293B"/>
                </a:solidFill>
              </a:rPr>
              <a:t>Executes domain-specific financial arithmetic (Total = Subtotal + Tax - Discount, Assets = Liabilities + Equity, Net Cash Flow Reconciliation).
</a:t>
            </a:r>
          </a:p>
          <a:p>
            <a:r>
              <a:rPr b="1" sz="1400">
                <a:solidFill>
                  <a:srgbClr val="0E7490"/>
                </a:solidFill>
              </a:rPr>
              <a:t>Production Mandate: </a:t>
            </a:r>
            <a:r>
              <a:rPr sz="1400">
                <a:solidFill>
                  <a:srgbClr val="1E293B"/>
                </a:solidFill>
              </a:rPr>
              <a:t>End-to-end cloud deployment on free-tier platform (Render/Railway), interactive UI dashboard, and REST APIs with Swagger documentation.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2. End-to-End System Architecture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Modular microservice design ensuring clean separation of concerns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E7490"/>
                </a:solidFill>
              </a:rPr>
              <a:t>FastAPI Application Gateway: </a:t>
            </a:r>
            <a:r>
              <a:rPr sz="1300">
                <a:solidFill>
                  <a:srgbClr val="1E293B"/>
                </a:solidFill>
              </a:rPr>
              <a:t>High-performance asynchronous backend exposing REST endpoints (/api/v1/documents, /api/v1/health) and interactive OpenAPI documentation (/docs).
</a:t>
            </a:r>
          </a:p>
          <a:p>
            <a:r>
              <a:rPr b="1" sz="1300">
                <a:solidFill>
                  <a:srgbClr val="0E7490"/>
                </a:solidFill>
              </a:rPr>
              <a:t>Validation Layer (DocumentValidationService): </a:t>
            </a:r>
            <a:r>
              <a:rPr sz="1300">
                <a:solidFill>
                  <a:srgbClr val="1E293B"/>
                </a:solidFill>
              </a:rPr>
              <a:t>Pre-extraction filter validating MIME types, image integrity, and page counts (&lt;= 3 pages) with structured error codes.
</a:t>
            </a:r>
          </a:p>
          <a:p>
            <a:r>
              <a:rPr b="1" sz="1300">
                <a:solidFill>
                  <a:srgbClr val="0E7490"/>
                </a:solidFill>
              </a:rPr>
              <a:t>OCR &amp; Rendering (OCRService): </a:t>
            </a:r>
            <a:r>
              <a:rPr sz="1300">
                <a:solidFill>
                  <a:srgbClr val="1E293B"/>
                </a:solidFill>
              </a:rPr>
              <a:t>PyMuPDF (fitz) rasterizes document pages into high-DPI images for multimodal vision models and extracts native text.
</a:t>
            </a:r>
          </a:p>
          <a:p>
            <a:r>
              <a:rPr b="1" sz="1300">
                <a:solidFill>
                  <a:srgbClr val="0E7490"/>
                </a:solidFill>
              </a:rPr>
              <a:t>AI Extraction Engine (ExtractionService): </a:t>
            </a:r>
            <a:r>
              <a:rPr sz="1300">
                <a:solidFill>
                  <a:srgbClr val="1E293B"/>
                </a:solidFill>
              </a:rPr>
              <a:t>Multimodal LLM adapter supporting Google Gemini and OpenAI with strict Pydantic JSON schemas, plus intelligent local fallback parser.
</a:t>
            </a:r>
          </a:p>
          <a:p>
            <a:r>
              <a:rPr b="1" sz="1300">
                <a:solidFill>
                  <a:srgbClr val="0E7490"/>
                </a:solidFill>
              </a:rPr>
              <a:t>Financial Math Engine (FinancialValidationService): </a:t>
            </a:r>
            <a:r>
              <a:rPr sz="1300">
                <a:solidFill>
                  <a:srgbClr val="1E293B"/>
                </a:solidFill>
              </a:rPr>
              <a:t>Validates domain equations, parses accounting bracketed negatives '(1,000)' -&gt; -1000, checks tolerances, and tags PASS/FAIL/NOT_APPLICABLE.
</a:t>
            </a:r>
          </a:p>
          <a:p>
            <a:r>
              <a:rPr b="1" sz="1300">
                <a:solidFill>
                  <a:srgbClr val="0E7490"/>
                </a:solidFill>
              </a:rPr>
              <a:t>Persistence &amp; Dashboard: </a:t>
            </a:r>
            <a:r>
              <a:rPr sz="1300">
                <a:solidFill>
                  <a:srgbClr val="1E293B"/>
                </a:solidFill>
              </a:rPr>
              <a:t>SQLite repository storing structured responses, queryable by document name, surfaced in responsive Jinja2/Bootstrap 5 dashboard.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3. Financial Calculation &amp; Validation Engine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Rigorous mathematical reconciliation across all four financial statements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E7490"/>
                </a:solidFill>
              </a:rPr>
              <a:t>Invoice Calculations: </a:t>
            </a:r>
            <a:r>
              <a:rPr sz="1300">
                <a:solidFill>
                  <a:srgbClr val="1E293B"/>
                </a:solidFill>
              </a:rPr>
              <a:t>• Quantity × Unit Price ≈ Line Total
• Sum(Line Totals) ≈ Subtotal
• Subtotal + Tax Amount - Discount ≈ Total Amount (tolerates rounding variance)
• Cash Paid - Total Amount ≈ Change
</a:t>
            </a:r>
          </a:p>
          <a:p>
            <a:r>
              <a:rPr b="1" sz="1300">
                <a:solidFill>
                  <a:srgbClr val="0E7490"/>
                </a:solidFill>
              </a:rPr>
              <a:t>Balance Sheet Reconciliation: </a:t>
            </a:r>
            <a:r>
              <a:rPr sz="1300">
                <a:solidFill>
                  <a:srgbClr val="1E293B"/>
                </a:solidFill>
              </a:rPr>
              <a:t>• Total Capital &amp; Liabilities ≈ Total Assets (evaluated independently for current and comparative prior years)
• Sum(Capital + Reserves + Deposits + Borrowings) ≈ Total Liabilities
• Sum(Cash + Investments + Advances + Fixed Assets) ≈ Total Assets
</a:t>
            </a:r>
          </a:p>
          <a:p>
            <a:r>
              <a:rPr b="1" sz="1300">
                <a:solidFill>
                  <a:srgbClr val="0E7490"/>
                </a:solidFill>
              </a:rPr>
              <a:t>Profit &amp; Loss Reconciliation: </a:t>
            </a:r>
            <a:r>
              <a:rPr sz="1300">
                <a:solidFill>
                  <a:srgbClr val="1E293B"/>
                </a:solidFill>
              </a:rPr>
              <a:t>• Interest Earned + Other Income ≈ Total Income
• Interest Expended + Operating Expenses + Provisions ≈ Total Expenditure
• Total Income - Total Expenditure ≈ Net Profit before Minority Interest
• Current Profit + Brought Forward Profit ≈ Total Available for Appropriation
</a:t>
            </a:r>
          </a:p>
          <a:p>
            <a:r>
              <a:rPr b="1" sz="1300">
                <a:solidFill>
                  <a:srgbClr val="0E7490"/>
                </a:solidFill>
              </a:rPr>
              <a:t>Cash Flow Statement: </a:t>
            </a:r>
            <a:r>
              <a:rPr sz="1300">
                <a:solidFill>
                  <a:srgbClr val="1E293B"/>
                </a:solidFill>
              </a:rPr>
              <a:t>• Operating Cash Flow + Investing Cash Flow + Financing Cash Flow + FX ≈ Net Increase in Cash
• Opening Cash + Net Increase in Cash + Adjustments ≈ Closing Cash
• Accounting format parser converts '(1,018,904,990)' into negative floats automatically.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4. REST API &amp; Web Dashboard Interface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Intuitive user experience paired with robust backend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E7490"/>
                </a:solidFill>
              </a:rPr>
              <a:t>POST /api/v1/documents/process: </a:t>
            </a:r>
            <a:r>
              <a:rPr sz="1300">
                <a:solidFill>
                  <a:srgbClr val="1E293B"/>
                </a:solidFill>
              </a:rPr>
              <a:t>Multipart upload endpoint taking document file + document_type. Synchronously processes, executes validations, persists in database, and returns standard JSON.
</a:t>
            </a:r>
          </a:p>
          <a:p>
            <a:r>
              <a:rPr b="1" sz="1300">
                <a:solidFill>
                  <a:srgbClr val="0E7490"/>
                </a:solidFill>
              </a:rPr>
              <a:t>GET /api/v1/documents/{document_name}: </a:t>
            </a:r>
            <a:r>
              <a:rPr sz="1300">
                <a:solidFill>
                  <a:srgbClr val="1E293B"/>
                </a:solidFill>
              </a:rPr>
              <a:t>Retrieves the latest structured JSON result for a given document name. Returns 404 with structured error if not found.
</a:t>
            </a:r>
          </a:p>
          <a:p>
            <a:r>
              <a:rPr b="1" sz="1300">
                <a:solidFill>
                  <a:srgbClr val="0E7490"/>
                </a:solidFill>
              </a:rPr>
              <a:t>GET /api/v1/documents: </a:t>
            </a:r>
            <a:r>
              <a:rPr sz="1300">
                <a:solidFill>
                  <a:srgbClr val="1E293B"/>
                </a:solidFill>
              </a:rPr>
              <a:t>Lists all processed records with metadata and pass/fail indicators for dashboard population.
</a:t>
            </a:r>
          </a:p>
          <a:p>
            <a:r>
              <a:rPr b="1" sz="1300">
                <a:solidFill>
                  <a:srgbClr val="0E7490"/>
                </a:solidFill>
              </a:rPr>
              <a:t>GET /api/v1/health: </a:t>
            </a:r>
            <a:r>
              <a:rPr sz="1300">
                <a:solidFill>
                  <a:srgbClr val="1E293B"/>
                </a:solidFill>
              </a:rPr>
              <a:t>Liveness probe returning service health and UTC timestamp.
</a:t>
            </a:r>
          </a:p>
          <a:p>
            <a:r>
              <a:rPr b="1" sz="1300">
                <a:solidFill>
                  <a:srgbClr val="0E7490"/>
                </a:solidFill>
              </a:rPr>
              <a:t>Interactive Dashboard Features: </a:t>
            </a:r>
            <a:r>
              <a:rPr sz="1300">
                <a:solidFill>
                  <a:srgbClr val="1E293B"/>
                </a:solidFill>
              </a:rPr>
              <a:t>• Drag &amp; drop upload with file format and page count feedback
• Real-time processing status spinner
• Searchable documents list table
• Detailed result view: key-value pairs, line-item tables, validation checks with color-coded badges, and 1-click Raw JSON modal viewer.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5. Automated Testing &amp; Verification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20/20 automated tests passing across validation, extraction, and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E7490"/>
                </a:solidFill>
              </a:rPr>
              <a:t>Input Validation Tests (test_validation.py): </a:t>
            </a:r>
            <a:r>
              <a:rPr sz="1300">
                <a:solidFill>
                  <a:srgbClr val="1E293B"/>
                </a:solidFill>
              </a:rPr>
              <a:t>• Valid 1-page PDF and JPG inputs pass.
• Rejection of unsupported types (.txt) with UNSUPPORTED_FILE_TYPE.
• Rejection of 0-byte empty files and corrupted headers with CORRUPTED_OR_EMPTY_FILE.
• Rejection of documents &gt; 3 pages with PAGE_LIMIT_EXCEEDED.
</a:t>
            </a:r>
          </a:p>
          <a:p>
            <a:r>
              <a:rPr b="1" sz="1300">
                <a:solidFill>
                  <a:srgbClr val="0E7490"/>
                </a:solidFill>
              </a:rPr>
              <a:t>Domain Math &amp; Negative Number Tests (test_extraction.py): </a:t>
            </a:r>
            <a:r>
              <a:rPr sz="1300">
                <a:solidFill>
                  <a:srgbClr val="1E293B"/>
                </a:solidFill>
              </a:rPr>
              <a:t>• Negative bracket parser '(1,018,904,990)' -&gt; -1018904990.0 verified.
• Invoice, Balance Sheet, P&amp;L, and Cash Flow reconciliation formulas tested.
• Intentional variance test verified: flags FAIL and outputs exact numerical variance.
• Missing fields verify returning NOT_APPLICABLE rather than hallucinating values.
</a:t>
            </a:r>
          </a:p>
          <a:p>
            <a:r>
              <a:rPr b="1" sz="1300">
                <a:solidFill>
                  <a:srgbClr val="0E7490"/>
                </a:solidFill>
              </a:rPr>
              <a:t>REST API Integration Tests (test_api.py): </a:t>
            </a:r>
            <a:r>
              <a:rPr sz="1300">
                <a:solidFill>
                  <a:srgbClr val="1E293B"/>
                </a:solidFill>
              </a:rPr>
              <a:t>• Health check returns 200 healthy.
• POST /process verifies 200 for valid uploads, 400 for invalid types.
• GET /{name} verifies retrieval of latest result and 404 handling.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7490"/>
                </a:solidFill>
              </a:defRPr>
            </a:pPr>
            <a:r>
              <a:t>6. Deployment &amp; Production Scalability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Architected for seamless migration to enterprise cloud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E7490"/>
                </a:solidFill>
              </a:rPr>
              <a:t>Containerized Deployment: </a:t>
            </a:r>
            <a:r>
              <a:rPr sz="1300">
                <a:solidFill>
                  <a:srgbClr val="1E293B"/>
                </a:solidFill>
              </a:rPr>
              <a:t>Dockerfile with multi-stage build, Tesseract OCR system packages, and healthcheck. Ready for 1-click deployment on Render, Railway, or Koyeb via render.yaml and Procfile.
</a:t>
            </a:r>
          </a:p>
          <a:p>
            <a:r>
              <a:rPr b="1" sz="1300">
                <a:solidFill>
                  <a:srgbClr val="0E7490"/>
                </a:solidFill>
              </a:rPr>
              <a:t>Zero-Downtime Asynchronous Processing: </a:t>
            </a:r>
            <a:r>
              <a:rPr sz="1300">
                <a:solidFill>
                  <a:srgbClr val="1E293B"/>
                </a:solidFill>
              </a:rPr>
              <a:t>For high-volume production, decouple upload from processing using Celery / Redis task queues with webhook / WebSocket notifications.
</a:t>
            </a:r>
          </a:p>
          <a:p>
            <a:r>
              <a:rPr b="1" sz="1300">
                <a:solidFill>
                  <a:srgbClr val="0E7490"/>
                </a:solidFill>
              </a:rPr>
              <a:t>Cloud Storage &amp; PostgreSQL: </a:t>
            </a:r>
            <a:r>
              <a:rPr sz="1300">
                <a:solidFill>
                  <a:srgbClr val="1E293B"/>
                </a:solidFill>
              </a:rPr>
              <a:t>Store uploaded documents in AWS S3 / Google Cloud Storage and replace SQLite with managed PostgreSQL with read-replicas.
</a:t>
            </a:r>
          </a:p>
          <a:p>
            <a:r>
              <a:rPr b="1" sz="1300">
                <a:solidFill>
                  <a:srgbClr val="0E7490"/>
                </a:solidFill>
              </a:rPr>
              <a:t>Human-in-the-Loop (HITL) Review: </a:t>
            </a:r>
            <a:r>
              <a:rPr sz="1300">
                <a:solidFill>
                  <a:srgbClr val="1E293B"/>
                </a:solidFill>
              </a:rPr>
              <a:t>Flag extractions with confidence &lt; 85% or validation variances &gt; tolerance for one-click accountant verification and manual adjustment.
</a:t>
            </a:r>
          </a:p>
          <a:p>
            <a:r>
              <a:rPr b="1" sz="1300">
                <a:solidFill>
                  <a:srgbClr val="0E7490"/>
                </a:solidFill>
              </a:rPr>
              <a:t>Security &amp; Compliance: </a:t>
            </a:r>
            <a:r>
              <a:rPr sz="1300">
                <a:solidFill>
                  <a:srgbClr val="1E293B"/>
                </a:solidFill>
              </a:rPr>
              <a:t>Zero secrets committed to GitHub; environment-variable injection; automated PII redaction on financial statements.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